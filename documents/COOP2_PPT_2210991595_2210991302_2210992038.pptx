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7"/>
  </p:notesMasterIdLst>
  <p:handoutMasterIdLst>
    <p:handoutMasterId r:id="rId18"/>
  </p:handoutMasterIdLst>
  <p:sldIdLst>
    <p:sldId id="256" r:id="rId5"/>
    <p:sldId id="257" r:id="rId6"/>
    <p:sldId id="269" r:id="rId7"/>
    <p:sldId id="270" r:id="rId8"/>
    <p:sldId id="271" r:id="rId9"/>
    <p:sldId id="272" r:id="rId10"/>
    <p:sldId id="277" r:id="rId11"/>
    <p:sldId id="273" r:id="rId12"/>
    <p:sldId id="274" r:id="rId13"/>
    <p:sldId id="275" r:id="rId14"/>
    <p:sldId id="276" r:id="rId15"/>
    <p:sldId id="268" r:id="rId16"/>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1320" y="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4/30/2026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4/30/2026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spcBef>
                <a:spcPts val="400"/>
              </a:spcBef>
            </a:pPr>
            <a:r>
              <a:rPr lang="en-IN" b="1" dirty="0"/>
              <a:t>WEB PATTERN ANALYZER</a:t>
            </a:r>
          </a:p>
          <a:p>
            <a:pPr algn="ctr">
              <a:spcBef>
                <a:spcPts val="400"/>
              </a:spcBef>
            </a:pPr>
            <a:r>
              <a:rPr lang="en-US" i="1" dirty="0"/>
              <a:t>Automated UX Design Pattern Extraction from Live Websites Using a Headless Browser Pipeline</a:t>
            </a:r>
          </a:p>
          <a:p>
            <a:pPr algn="ctr">
              <a:spcBef>
                <a:spcPts val="400"/>
              </a:spcBef>
            </a:pPr>
            <a:endParaRPr lang="en-IN" dirty="0"/>
          </a:p>
          <a:p>
            <a:pPr algn="ctr"/>
            <a:r>
              <a:rPr lang="en-IN" b="1" dirty="0"/>
              <a:t>Submitted by:</a:t>
            </a: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		           </a:t>
            </a:r>
            <a:r>
              <a:rPr lang="en-IN" dirty="0"/>
              <a:t>Gurkunwar Singh (2210991595)</a:t>
            </a:r>
            <a:r>
              <a:rPr lang="en-IN" b="1" dirty="0"/>
              <a:t>				    </a:t>
            </a:r>
            <a:r>
              <a:rPr lang="en-IN" dirty="0"/>
              <a:t>Anshik Singh (2210991302)		 </a:t>
            </a:r>
          </a:p>
          <a:p>
            <a:pPr algn="ctr"/>
            <a:r>
              <a:rPr lang="en-IN" dirty="0"/>
              <a:t>     Piyush (2210992038)		</a:t>
            </a:r>
            <a:r>
              <a:rPr lang="en-IN" b="1" dirty="0"/>
              <a:t>                                 </a:t>
            </a:r>
            <a:endParaRPr lang="en-IN" dirty="0"/>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IN" sz="2000" b="1" dirty="0"/>
              <a:t> </a:t>
            </a:r>
            <a:r>
              <a:rPr lang="en-IN" dirty="0"/>
              <a:t>Dr Lalit Sharma</a:t>
            </a:r>
            <a:endParaRPr lang="en-US"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r>
              <a:rPr lang="en-US" sz="2200" dirty="0">
                <a:latin typeface="Times New Roman" panose="02020603050405020304" pitchFamily="18" charset="0"/>
                <a:cs typeface="Times New Roman" panose="02020603050405020304" pitchFamily="18" charset="0"/>
              </a:rPr>
              <a:t>Manual design analysis is slow, subjective, and inconsistent across evaluators. Existing tools like Lighthouse focus on performance metrics (load time, SEO) and accessibility tools like axe-core check only WCAG compliance. No existing solution holistically extracts visual design patterns like color palettes, typography scales, framework detection, and layout structures from live websites. Web Pattern Analyzer solves this by providing an automated, reproducible pipeline using a headless browser that extracts 8 distinct design dimensions from any public URL in under 10 seconds</a:t>
            </a:r>
            <a:endParaRPr lang="en-US" sz="22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9A7C29-043A-D1BF-9728-6248671816B4}"/>
              </a:ext>
            </a:extLst>
          </p:cNvPr>
          <p:cNvSpPr>
            <a:spLocks noGrp="1"/>
          </p:cNvSpPr>
          <p:nvPr>
            <p:ph type="subTitle"/>
          </p:nvPr>
        </p:nvSpPr>
        <p:spPr>
          <a:xfrm>
            <a:off x="457200" y="1604520"/>
            <a:ext cx="8229240" cy="4874938"/>
          </a:xfrm>
        </p:spPr>
        <p:txBody>
          <a:bodyPr/>
          <a:lstStyle/>
          <a:p>
            <a:pPr marL="0" indent="0">
              <a:buNone/>
            </a:pPr>
            <a:r>
              <a:rPr lang="en-US" sz="2400" dirty="0">
                <a:latin typeface="Times New Roman" panose="02020603050405020304" pitchFamily="18" charset="0"/>
                <a:cs typeface="Times New Roman" panose="02020603050405020304" pitchFamily="18" charset="0"/>
              </a:rPr>
              <a:t>Identifying design patterns across websites is slow, subjective, and does not scale — existing tools focus on performance, not design</a:t>
            </a:r>
          </a:p>
          <a:p>
            <a:r>
              <a:rPr lang="en-US" sz="2200" b="1" dirty="0">
                <a:latin typeface="Times New Roman" panose="02020603050405020304" pitchFamily="18" charset="0"/>
                <a:cs typeface="Times New Roman" panose="02020603050405020304" pitchFamily="18" charset="0"/>
              </a:rPr>
              <a:t>Manual Inspection</a:t>
            </a:r>
            <a:r>
              <a:rPr lang="en-US" sz="2200" dirty="0">
                <a:latin typeface="Times New Roman" panose="02020603050405020304" pitchFamily="18" charset="0"/>
                <a:cs typeface="Times New Roman" panose="02020603050405020304" pitchFamily="18" charset="0"/>
              </a:rPr>
              <a:t> — Expert review takes 2-4 hours per website. A UX researcher analyzing 100 competitor sites would need 200-400 hours of manual work. This is not viable at scale for design audits, competitive analysis, or design system research.</a:t>
            </a:r>
          </a:p>
          <a:p>
            <a:r>
              <a:rPr lang="en-US" sz="2200" b="1" dirty="0">
                <a:latin typeface="Times New Roman" panose="02020603050405020304" pitchFamily="18" charset="0"/>
                <a:cs typeface="Times New Roman" panose="02020603050405020304" pitchFamily="18" charset="0"/>
              </a:rPr>
              <a:t> Tool Gaps</a:t>
            </a:r>
            <a:r>
              <a:rPr lang="en-US" sz="2200" dirty="0">
                <a:latin typeface="Times New Roman" panose="02020603050405020304" pitchFamily="18" charset="0"/>
                <a:cs typeface="Times New Roman" panose="02020603050405020304" pitchFamily="18" charset="0"/>
              </a:rPr>
              <a:t> — Lighthouse checks performance (load time, CLS, LCP). axe-core checks accessibility (WCAG violations). WAVE checks contrast. But nothing covers design patterns holistically — no tool extracts color palettes, typography scales, framework detection, and layout patterns together from live URLs.</a:t>
            </a:r>
          </a:p>
          <a:p>
            <a:r>
              <a:rPr lang="en-US" sz="2200" b="1" dirty="0">
                <a:latin typeface="Times New Roman" panose="02020603050405020304" pitchFamily="18" charset="0"/>
                <a:cs typeface="Times New Roman" panose="02020603050405020304" pitchFamily="18" charset="0"/>
              </a:rPr>
              <a:t> Subjectivity</a:t>
            </a:r>
            <a:r>
              <a:rPr lang="en-US" sz="2200" dirty="0">
                <a:latin typeface="Times New Roman" panose="02020603050405020304" pitchFamily="18" charset="0"/>
                <a:cs typeface="Times New Roman" panose="02020603050405020304" pitchFamily="18" charset="0"/>
              </a:rPr>
              <a:t> — Human design ratings vary widely. Two senior designers rating the same site on visual hierarchy or color harmony often disagree by 2+ points on a 10-point scale. A consistent, reproducible, quantitative metric is needed for design quality assessment.</a:t>
            </a:r>
          </a:p>
          <a:p>
            <a:endParaRPr lang="en-IN" sz="2400"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994B9B0D-94F4-B7B3-8E8A-8FFF68DC3488}"/>
              </a:ext>
            </a:extLst>
          </p:cNvPr>
          <p:cNvSpPr>
            <a:spLocks noGrp="1"/>
          </p:cNvSpPr>
          <p:nvPr>
            <p:ph type="title"/>
          </p:nvPr>
        </p:nvSpPr>
        <p:spPr>
          <a:xfrm>
            <a:off x="373626" y="265471"/>
            <a:ext cx="3755923" cy="688258"/>
          </a:xfrm>
        </p:spPr>
        <p:txBody>
          <a:bodyPr/>
          <a:lstStyle/>
          <a:p>
            <a:r>
              <a:rPr lang="en-IN" sz="3200" b="1" dirty="0">
                <a:latin typeface="Times New Roman" panose="02020603050405020304" pitchFamily="18" charset="0"/>
                <a:cs typeface="Times New Roman" panose="02020603050405020304" pitchFamily="18" charset="0"/>
              </a:rPr>
              <a:t>Problem Statement</a:t>
            </a:r>
            <a:br>
              <a:rPr lang="en-IN" sz="3200" b="1"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1909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A9D56-1CAA-92E2-6DF4-2039660F1ADB}"/>
              </a:ext>
            </a:extLst>
          </p:cNvPr>
          <p:cNvSpPr>
            <a:spLocks noGrp="1"/>
          </p:cNvSpPr>
          <p:nvPr>
            <p:ph type="title"/>
          </p:nvPr>
        </p:nvSpPr>
        <p:spPr>
          <a:xfrm>
            <a:off x="235974" y="314634"/>
            <a:ext cx="4896465" cy="727586"/>
          </a:xfrm>
        </p:spPr>
        <p:txBody>
          <a:bodyPr/>
          <a:lstStyle/>
          <a:p>
            <a:r>
              <a:rPr lang="en-IN" sz="3200" b="1" dirty="0">
                <a:latin typeface="Times New Roman" panose="02020603050405020304" pitchFamily="18" charset="0"/>
                <a:cs typeface="Times New Roman" panose="02020603050405020304" pitchFamily="18" charset="0"/>
              </a:rPr>
              <a:t>System Overview</a:t>
            </a:r>
            <a:br>
              <a:rPr lang="en-IN" sz="3200" b="1"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77B94E4-4775-1D8B-15B2-FC49A8D27934}"/>
              </a:ext>
            </a:extLst>
          </p:cNvPr>
          <p:cNvSpPr>
            <a:spLocks noGrp="1"/>
          </p:cNvSpPr>
          <p:nvPr>
            <p:ph type="subTitle"/>
          </p:nvPr>
        </p:nvSpPr>
        <p:spPr>
          <a:xfrm>
            <a:off x="457380" y="1159210"/>
            <a:ext cx="8229240" cy="4539580"/>
          </a:xfrm>
        </p:spPr>
        <p:txBody>
          <a:bodyPr/>
          <a:lstStyle/>
          <a:p>
            <a:r>
              <a:rPr lang="en-US" sz="2200" dirty="0">
                <a:latin typeface="Times New Roman" panose="02020603050405020304" pitchFamily="18" charset="0"/>
                <a:cs typeface="Times New Roman" panose="02020603050405020304" pitchFamily="18" charset="0"/>
              </a:rPr>
              <a:t>User enters any public website URL in the frontend</a:t>
            </a:r>
          </a:p>
          <a:p>
            <a:r>
              <a:rPr lang="en-US" sz="2200" dirty="0">
                <a:latin typeface="Times New Roman" panose="02020603050405020304" pitchFamily="18" charset="0"/>
                <a:cs typeface="Times New Roman" panose="02020603050405020304" pitchFamily="18" charset="0"/>
              </a:rPr>
              <a:t>Backend validates the URL and launches a headless Chrome browser</a:t>
            </a:r>
          </a:p>
          <a:p>
            <a:r>
              <a:rPr lang="en-US" sz="2200" dirty="0">
                <a:latin typeface="Times New Roman" panose="02020603050405020304" pitchFamily="18" charset="0"/>
                <a:cs typeface="Times New Roman" panose="02020603050405020304" pitchFamily="18" charset="0"/>
              </a:rPr>
              <a:t>Images, fonts, and media are blocked to save memory</a:t>
            </a:r>
          </a:p>
          <a:p>
            <a:r>
              <a:rPr lang="en-US" sz="2200" dirty="0">
                <a:latin typeface="Times New Roman" panose="02020603050405020304" pitchFamily="18" charset="0"/>
                <a:cs typeface="Times New Roman" panose="02020603050405020304" pitchFamily="18" charset="0"/>
              </a:rPr>
              <a:t>A single DOM query collects up to 400 elements from the page</a:t>
            </a:r>
          </a:p>
          <a:p>
            <a:r>
              <a:rPr lang="en-US" sz="2200" dirty="0">
                <a:latin typeface="Times New Roman" panose="02020603050405020304" pitchFamily="18" charset="0"/>
                <a:cs typeface="Times New Roman" panose="02020603050405020304" pitchFamily="18" charset="0"/>
              </a:rPr>
              <a:t>Eight algorithms run inside the browser in one pass</a:t>
            </a:r>
          </a:p>
          <a:p>
            <a:r>
              <a:rPr lang="en-US" sz="2200" dirty="0">
                <a:latin typeface="Times New Roman" panose="02020603050405020304" pitchFamily="18" charset="0"/>
                <a:cs typeface="Times New Roman" panose="02020603050405020304" pitchFamily="18" charset="0"/>
              </a:rPr>
              <a:t>Results are returned as a structured JSON response</a:t>
            </a:r>
          </a:p>
          <a:p>
            <a:r>
              <a:rPr lang="en-US" sz="2200" dirty="0">
                <a:latin typeface="Times New Roman" panose="02020603050405020304" pitchFamily="18" charset="0"/>
                <a:cs typeface="Times New Roman" panose="02020603050405020304" pitchFamily="18" charset="0"/>
              </a:rPr>
              <a:t>React frontend displays the data across 6 interactive panels</a:t>
            </a:r>
          </a:p>
          <a:p>
            <a:r>
              <a:rPr lang="en-US" sz="2200" dirty="0">
                <a:latin typeface="Times New Roman" panose="02020603050405020304" pitchFamily="18" charset="0"/>
                <a:cs typeface="Times New Roman" panose="02020603050405020304" pitchFamily="18" charset="0"/>
              </a:rPr>
              <a:t>The entire process completes in under 10 seconds</a:t>
            </a:r>
          </a:p>
        </p:txBody>
      </p:sp>
    </p:spTree>
    <p:extLst>
      <p:ext uri="{BB962C8B-B14F-4D97-AF65-F5344CB8AC3E}">
        <p14:creationId xmlns:p14="http://schemas.microsoft.com/office/powerpoint/2010/main" val="779356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102CF-2379-B7F4-F9FB-22F2A1CF63C4}"/>
              </a:ext>
            </a:extLst>
          </p:cNvPr>
          <p:cNvSpPr>
            <a:spLocks noGrp="1"/>
          </p:cNvSpPr>
          <p:nvPr>
            <p:ph type="title"/>
          </p:nvPr>
        </p:nvSpPr>
        <p:spPr>
          <a:xfrm>
            <a:off x="206298" y="265472"/>
            <a:ext cx="5437418" cy="511277"/>
          </a:xfrm>
        </p:spPr>
        <p:txBody>
          <a:bodyPr/>
          <a:lstStyle/>
          <a:p>
            <a:r>
              <a:rPr lang="en-IN" sz="3200" b="1" dirty="0">
                <a:latin typeface="Times New Roman" panose="02020603050405020304" pitchFamily="18" charset="0"/>
                <a:cs typeface="Times New Roman" panose="02020603050405020304" pitchFamily="18" charset="0"/>
              </a:rPr>
              <a:t>Methodology – </a:t>
            </a:r>
            <a:r>
              <a:rPr lang="en-IN" sz="3200" b="1" dirty="0" err="1">
                <a:latin typeface="Times New Roman" panose="02020603050405020304" pitchFamily="18" charset="0"/>
                <a:cs typeface="Times New Roman" panose="02020603050405020304" pitchFamily="18" charset="0"/>
              </a:rPr>
              <a:t>Color</a:t>
            </a:r>
            <a:r>
              <a:rPr lang="en-IN" sz="3200" b="1" dirty="0">
                <a:latin typeface="Times New Roman" panose="02020603050405020304" pitchFamily="18" charset="0"/>
                <a:cs typeface="Times New Roman" panose="02020603050405020304" pitchFamily="18" charset="0"/>
              </a:rPr>
              <a:t> Palette</a:t>
            </a:r>
          </a:p>
        </p:txBody>
      </p:sp>
      <p:sp>
        <p:nvSpPr>
          <p:cNvPr id="3" name="Subtitle 2">
            <a:extLst>
              <a:ext uri="{FF2B5EF4-FFF2-40B4-BE49-F238E27FC236}">
                <a16:creationId xmlns:a16="http://schemas.microsoft.com/office/drawing/2014/main" id="{A1637FB5-F95B-E7C3-012E-E4F0875A69C0}"/>
              </a:ext>
            </a:extLst>
          </p:cNvPr>
          <p:cNvSpPr>
            <a:spLocks noGrp="1"/>
          </p:cNvSpPr>
          <p:nvPr>
            <p:ph type="subTitle"/>
          </p:nvPr>
        </p:nvSpPr>
        <p:spPr/>
        <p:txBody>
          <a:bodyPr/>
          <a:lstStyle/>
          <a:p>
            <a:pPr>
              <a:lnSpc>
                <a:spcPct val="150000"/>
              </a:lnSpc>
            </a:pPr>
            <a:r>
              <a:rPr lang="en-US" sz="2200" dirty="0">
                <a:latin typeface="Times New Roman" panose="02020603050405020304" pitchFamily="18" charset="0"/>
                <a:cs typeface="Times New Roman" panose="02020603050405020304" pitchFamily="18" charset="0"/>
              </a:rPr>
              <a:t>Collects background, text, and border colors from 400 elements</a:t>
            </a:r>
          </a:p>
          <a:p>
            <a:pPr>
              <a:lnSpc>
                <a:spcPct val="150000"/>
              </a:lnSpc>
            </a:pPr>
            <a:r>
              <a:rPr lang="en-US" sz="2200" dirty="0">
                <a:latin typeface="Times New Roman" panose="02020603050405020304" pitchFamily="18" charset="0"/>
                <a:cs typeface="Times New Roman" panose="02020603050405020304" pitchFamily="18" charset="0"/>
              </a:rPr>
              <a:t>Filters out transparent and white/black values</a:t>
            </a:r>
          </a:p>
          <a:p>
            <a:pPr>
              <a:lnSpc>
                <a:spcPct val="150000"/>
              </a:lnSpc>
            </a:pPr>
            <a:r>
              <a:rPr lang="en-US" sz="2200" dirty="0">
                <a:latin typeface="Times New Roman" panose="02020603050405020304" pitchFamily="18" charset="0"/>
                <a:cs typeface="Times New Roman" panose="02020603050405020304" pitchFamily="18" charset="0"/>
              </a:rPr>
              <a:t>Converts each color to RGB format</a:t>
            </a:r>
          </a:p>
          <a:p>
            <a:pPr>
              <a:lnSpc>
                <a:spcPct val="150000"/>
              </a:lnSpc>
            </a:pPr>
            <a:r>
              <a:rPr lang="en-US" sz="2200" dirty="0">
                <a:latin typeface="Times New Roman" panose="02020603050405020304" pitchFamily="18" charset="0"/>
                <a:cs typeface="Times New Roman" panose="02020603050405020304" pitchFamily="18" charset="0"/>
              </a:rPr>
              <a:t>Applies K-means clustering to find dominant colors</a:t>
            </a:r>
          </a:p>
          <a:p>
            <a:pPr>
              <a:lnSpc>
                <a:spcPct val="150000"/>
              </a:lnSpc>
            </a:pPr>
            <a:r>
              <a:rPr lang="en-US" sz="2200" dirty="0">
                <a:latin typeface="Times New Roman" panose="02020603050405020304" pitchFamily="18" charset="0"/>
                <a:cs typeface="Times New Roman" panose="02020603050405020304" pitchFamily="18" charset="0"/>
              </a:rPr>
              <a:t>Dynamically chooses 3 to 6 clusters per page</a:t>
            </a:r>
          </a:p>
          <a:p>
            <a:pPr>
              <a:lnSpc>
                <a:spcPct val="150000"/>
              </a:lnSpc>
            </a:pPr>
            <a:r>
              <a:rPr lang="en-US" sz="2200" dirty="0">
                <a:latin typeface="Times New Roman" panose="02020603050405020304" pitchFamily="18" charset="0"/>
                <a:cs typeface="Times New Roman" panose="02020603050405020304" pitchFamily="18" charset="0"/>
              </a:rPr>
              <a:t>Returns hex codes like #1F3864, #028090, #02C39A</a:t>
            </a:r>
          </a:p>
          <a:p>
            <a:pPr>
              <a:lnSpc>
                <a:spcPct val="150000"/>
              </a:lnSpc>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1561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E1CD8-F4BB-9259-6DFA-60073ED31005}"/>
              </a:ext>
            </a:extLst>
          </p:cNvPr>
          <p:cNvSpPr>
            <a:spLocks noGrp="1"/>
          </p:cNvSpPr>
          <p:nvPr>
            <p:ph type="title"/>
          </p:nvPr>
        </p:nvSpPr>
        <p:spPr>
          <a:xfrm>
            <a:off x="0" y="0"/>
            <a:ext cx="6558116" cy="786581"/>
          </a:xfrm>
        </p:spPr>
        <p:txBody>
          <a:bodyPr/>
          <a:lstStyle/>
          <a:p>
            <a:r>
              <a:rPr lang="en-IN" sz="3000" b="1" dirty="0">
                <a:latin typeface="Times New Roman" panose="02020603050405020304" pitchFamily="18" charset="0"/>
                <a:cs typeface="Times New Roman" panose="02020603050405020304" pitchFamily="18" charset="0"/>
              </a:rPr>
              <a:t>Methodology – Framework &amp; Typography</a:t>
            </a:r>
          </a:p>
        </p:txBody>
      </p:sp>
      <p:sp>
        <p:nvSpPr>
          <p:cNvPr id="3" name="Subtitle 2">
            <a:extLst>
              <a:ext uri="{FF2B5EF4-FFF2-40B4-BE49-F238E27FC236}">
                <a16:creationId xmlns:a16="http://schemas.microsoft.com/office/drawing/2014/main" id="{3ACD3770-A0C7-C46F-0F69-BA4197ADE54B}"/>
              </a:ext>
            </a:extLst>
          </p:cNvPr>
          <p:cNvSpPr>
            <a:spLocks noGrp="1"/>
          </p:cNvSpPr>
          <p:nvPr>
            <p:ph type="subTitle"/>
          </p:nvPr>
        </p:nvSpPr>
        <p:spPr>
          <a:xfrm>
            <a:off x="457380" y="1909320"/>
            <a:ext cx="8229240" cy="3977280"/>
          </a:xfrm>
        </p:spPr>
        <p:txBody>
          <a:bodyPr/>
          <a:lstStyle/>
          <a:p>
            <a:pPr marL="0" indent="0">
              <a:lnSpc>
                <a:spcPct val="150000"/>
              </a:lnSpc>
              <a:buNone/>
            </a:pPr>
            <a:r>
              <a:rPr lang="en-IN" sz="2400" dirty="0">
                <a:latin typeface="Times New Roman" panose="02020603050405020304" pitchFamily="18" charset="0"/>
                <a:cs typeface="Times New Roman" panose="02020603050405020304" pitchFamily="18" charset="0"/>
              </a:rPr>
              <a:t>Framework Detection, Typography &amp; Accessibility</a:t>
            </a:r>
          </a:p>
          <a:p>
            <a:pPr>
              <a:lnSpc>
                <a:spcPct val="150000"/>
              </a:lnSpc>
            </a:pPr>
            <a:r>
              <a:rPr lang="en-IN" sz="2200" b="1" dirty="0">
                <a:latin typeface="Times New Roman" panose="02020603050405020304" pitchFamily="18" charset="0"/>
                <a:cs typeface="Times New Roman" panose="02020603050405020304" pitchFamily="18" charset="0"/>
              </a:rPr>
              <a:t>CSS Framework:</a:t>
            </a:r>
            <a:r>
              <a:rPr lang="en-IN" sz="2200" dirty="0">
                <a:latin typeface="Times New Roman" panose="02020603050405020304" pitchFamily="18" charset="0"/>
                <a:cs typeface="Times New Roman" panose="02020603050405020304" pitchFamily="18" charset="0"/>
              </a:rPr>
              <a:t> Scans class names to detect Bootstrap, Tailwind, or </a:t>
            </a:r>
            <a:r>
              <a:rPr lang="en-IN" sz="2200" dirty="0" err="1">
                <a:latin typeface="Times New Roman" panose="02020603050405020304" pitchFamily="18" charset="0"/>
                <a:cs typeface="Times New Roman" panose="02020603050405020304" pitchFamily="18" charset="0"/>
              </a:rPr>
              <a:t>Bulma</a:t>
            </a:r>
            <a:endParaRPr lang="en-IN" sz="2200" dirty="0">
              <a:latin typeface="Times New Roman" panose="02020603050405020304" pitchFamily="18" charset="0"/>
              <a:cs typeface="Times New Roman" panose="02020603050405020304" pitchFamily="18" charset="0"/>
            </a:endParaRPr>
          </a:p>
          <a:p>
            <a:pPr>
              <a:lnSpc>
                <a:spcPct val="150000"/>
              </a:lnSpc>
            </a:pPr>
            <a:r>
              <a:rPr lang="en-IN" sz="2200" b="1" dirty="0">
                <a:latin typeface="Times New Roman" panose="02020603050405020304" pitchFamily="18" charset="0"/>
                <a:cs typeface="Times New Roman" panose="02020603050405020304" pitchFamily="18" charset="0"/>
              </a:rPr>
              <a:t>Typography:</a:t>
            </a:r>
            <a:r>
              <a:rPr lang="en-IN" sz="2200" dirty="0">
                <a:latin typeface="Times New Roman" panose="02020603050405020304" pitchFamily="18" charset="0"/>
                <a:cs typeface="Times New Roman" panose="02020603050405020304" pitchFamily="18" charset="0"/>
              </a:rPr>
              <a:t> Extracts font sizes from h1 to h6 and finds modular scale ratio</a:t>
            </a:r>
          </a:p>
          <a:p>
            <a:pPr>
              <a:lnSpc>
                <a:spcPct val="150000"/>
              </a:lnSpc>
            </a:pPr>
            <a:r>
              <a:rPr lang="en-IN" sz="2200" b="1" dirty="0">
                <a:latin typeface="Times New Roman" panose="02020603050405020304" pitchFamily="18" charset="0"/>
                <a:cs typeface="Times New Roman" panose="02020603050405020304" pitchFamily="18" charset="0"/>
              </a:rPr>
              <a:t>Accessibility:</a:t>
            </a:r>
            <a:r>
              <a:rPr lang="en-IN" sz="2200" dirty="0">
                <a:latin typeface="Times New Roman" panose="02020603050405020304" pitchFamily="18" charset="0"/>
                <a:cs typeface="Times New Roman" panose="02020603050405020304" pitchFamily="18" charset="0"/>
              </a:rPr>
              <a:t> Checks WCAG 2.1 contrast between text and background</a:t>
            </a:r>
          </a:p>
          <a:p>
            <a:pPr>
              <a:lnSpc>
                <a:spcPct val="150000"/>
              </a:lnSpc>
            </a:pPr>
            <a:r>
              <a:rPr lang="en-IN" sz="2200" b="1" dirty="0">
                <a:latin typeface="Times New Roman" panose="02020603050405020304" pitchFamily="18" charset="0"/>
                <a:cs typeface="Times New Roman" panose="02020603050405020304" pitchFamily="18" charset="0"/>
              </a:rPr>
              <a:t>Layout Patterns:</a:t>
            </a:r>
            <a:r>
              <a:rPr lang="en-IN" sz="2200" dirty="0">
                <a:latin typeface="Times New Roman" panose="02020603050405020304" pitchFamily="18" charset="0"/>
                <a:cs typeface="Times New Roman" panose="02020603050405020304" pitchFamily="18" charset="0"/>
              </a:rPr>
              <a:t> Detects grid vs flex layouts from computed CSS</a:t>
            </a:r>
          </a:p>
          <a:p>
            <a:pPr>
              <a:lnSpc>
                <a:spcPct val="150000"/>
              </a:lnSpc>
            </a:pPr>
            <a:r>
              <a:rPr lang="en-IN" sz="2200" dirty="0">
                <a:latin typeface="Times New Roman" panose="02020603050405020304" pitchFamily="18" charset="0"/>
                <a:cs typeface="Times New Roman" panose="02020603050405020304" pitchFamily="18" charset="0"/>
              </a:rPr>
              <a:t>All 8 algorithms run from a single DOM query for speed</a:t>
            </a:r>
          </a:p>
          <a:p>
            <a:pPr>
              <a:lnSpc>
                <a:spcPct val="150000"/>
              </a:lnSpc>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109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E3D06-F9FE-DB88-901B-B78AAA81EDE1}"/>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Flow Diagram</a:t>
            </a:r>
          </a:p>
        </p:txBody>
      </p:sp>
      <p:pic>
        <p:nvPicPr>
          <p:cNvPr id="8" name="Picture 7">
            <a:extLst>
              <a:ext uri="{FF2B5EF4-FFF2-40B4-BE49-F238E27FC236}">
                <a16:creationId xmlns:a16="http://schemas.microsoft.com/office/drawing/2014/main" id="{D69F724E-A65E-9709-AD2E-8047A69BD987}"/>
              </a:ext>
            </a:extLst>
          </p:cNvPr>
          <p:cNvPicPr>
            <a:picLocks noChangeAspect="1"/>
          </p:cNvPicPr>
          <p:nvPr/>
        </p:nvPicPr>
        <p:blipFill>
          <a:blip r:embed="rId2"/>
          <a:stretch>
            <a:fillRect/>
          </a:stretch>
        </p:blipFill>
        <p:spPr>
          <a:xfrm>
            <a:off x="0" y="816078"/>
            <a:ext cx="9143999" cy="5899971"/>
          </a:xfrm>
          <a:prstGeom prst="rect">
            <a:avLst/>
          </a:prstGeom>
          <a:solidFill>
            <a:schemeClr val="tx1">
              <a:lumMod val="75000"/>
              <a:lumOff val="25000"/>
            </a:schemeClr>
          </a:solidFill>
        </p:spPr>
      </p:pic>
    </p:spTree>
    <p:extLst>
      <p:ext uri="{BB962C8B-B14F-4D97-AF65-F5344CB8AC3E}">
        <p14:creationId xmlns:p14="http://schemas.microsoft.com/office/powerpoint/2010/main" val="2302991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B0B5D-B1B9-1700-2FD8-74581C94358E}"/>
              </a:ext>
            </a:extLst>
          </p:cNvPr>
          <p:cNvSpPr>
            <a:spLocks noGrp="1"/>
          </p:cNvSpPr>
          <p:nvPr>
            <p:ph type="title"/>
          </p:nvPr>
        </p:nvSpPr>
        <p:spPr>
          <a:xfrm>
            <a:off x="206478" y="265471"/>
            <a:ext cx="3018503" cy="639097"/>
          </a:xfrm>
        </p:spPr>
        <p:txBody>
          <a:bodyPr/>
          <a:lstStyle/>
          <a:p>
            <a:r>
              <a:rPr lang="en-IN" sz="3200" b="1" dirty="0">
                <a:latin typeface="Times New Roman" panose="02020603050405020304" pitchFamily="18" charset="0"/>
                <a:cs typeface="Times New Roman" panose="02020603050405020304" pitchFamily="18" charset="0"/>
              </a:rPr>
              <a:t>Tech Stack</a:t>
            </a:r>
            <a:br>
              <a:rPr lang="en-IN" sz="3200" b="1"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AED9567-62FE-B43F-5A9D-D06BEF7B7C2B}"/>
              </a:ext>
            </a:extLst>
          </p:cNvPr>
          <p:cNvSpPr>
            <a:spLocks noGrp="1"/>
          </p:cNvSpPr>
          <p:nvPr>
            <p:ph type="subTitle"/>
          </p:nvPr>
        </p:nvSpPr>
        <p:spPr>
          <a:xfrm>
            <a:off x="457380" y="1869991"/>
            <a:ext cx="8229240" cy="3977280"/>
          </a:xfrm>
        </p:spPr>
        <p:txBody>
          <a:bodyPr/>
          <a:lstStyle/>
          <a:p>
            <a:pPr marL="0" indent="0">
              <a:buNone/>
            </a:pPr>
            <a:r>
              <a:rPr lang="en-IN" sz="2200" b="1" dirty="0">
                <a:latin typeface="Times New Roman" panose="02020603050405020304" pitchFamily="18" charset="0"/>
                <a:cs typeface="Times New Roman" panose="02020603050405020304" pitchFamily="18" charset="0"/>
              </a:rPr>
              <a:t>Backend:</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Node.js 20 with TypeScript</a:t>
            </a:r>
          </a:p>
          <a:p>
            <a:r>
              <a:rPr lang="en-IN" sz="2200" dirty="0">
                <a:latin typeface="Times New Roman" panose="02020603050405020304" pitchFamily="18" charset="0"/>
                <a:cs typeface="Times New Roman" panose="02020603050405020304" pitchFamily="18" charset="0"/>
              </a:rPr>
              <a:t>Express.js for API routing</a:t>
            </a:r>
          </a:p>
          <a:p>
            <a:r>
              <a:rPr lang="en-IN" sz="2200" dirty="0">
                <a:latin typeface="Times New Roman" panose="02020603050405020304" pitchFamily="18" charset="0"/>
                <a:cs typeface="Times New Roman" panose="02020603050405020304" pitchFamily="18" charset="0"/>
              </a:rPr>
              <a:t>Puppeteer for headless Chrome control</a:t>
            </a:r>
          </a:p>
          <a:p>
            <a:pPr marL="0" indent="0">
              <a:buNone/>
            </a:pPr>
            <a:r>
              <a:rPr lang="en-IN" sz="2200" b="1" dirty="0">
                <a:latin typeface="Times New Roman" panose="02020603050405020304" pitchFamily="18" charset="0"/>
                <a:cs typeface="Times New Roman" panose="02020603050405020304" pitchFamily="18" charset="0"/>
              </a:rPr>
              <a:t>Frontend:</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React 18 with Vite</a:t>
            </a:r>
          </a:p>
          <a:p>
            <a:r>
              <a:rPr lang="en-IN" sz="2200" dirty="0">
                <a:latin typeface="Times New Roman" panose="02020603050405020304" pitchFamily="18" charset="0"/>
                <a:cs typeface="Times New Roman" panose="02020603050405020304" pitchFamily="18" charset="0"/>
              </a:rPr>
              <a:t>TypeScript for type safety</a:t>
            </a:r>
          </a:p>
          <a:p>
            <a:r>
              <a:rPr lang="en-IN" sz="2200" dirty="0">
                <a:latin typeface="Times New Roman" panose="02020603050405020304" pitchFamily="18" charset="0"/>
                <a:cs typeface="Times New Roman" panose="02020603050405020304" pitchFamily="18" charset="0"/>
              </a:rPr>
              <a:t>6 interactive dashboard panels</a:t>
            </a:r>
          </a:p>
          <a:p>
            <a:pPr marL="0" indent="0">
              <a:buNone/>
            </a:pPr>
            <a:r>
              <a:rPr lang="en-IN" sz="2200" b="1" dirty="0">
                <a:latin typeface="Times New Roman" panose="02020603050405020304" pitchFamily="18" charset="0"/>
                <a:cs typeface="Times New Roman" panose="02020603050405020304" pitchFamily="18" charset="0"/>
              </a:rPr>
              <a:t>Hosting:</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Render for backend (512MB free tier)</a:t>
            </a:r>
          </a:p>
          <a:p>
            <a:r>
              <a:rPr lang="en-IN" sz="2200" dirty="0" err="1">
                <a:latin typeface="Times New Roman" panose="02020603050405020304" pitchFamily="18" charset="0"/>
                <a:cs typeface="Times New Roman" panose="02020603050405020304" pitchFamily="18" charset="0"/>
              </a:rPr>
              <a:t>Vercel</a:t>
            </a:r>
            <a:r>
              <a:rPr lang="en-IN" sz="2200" dirty="0">
                <a:latin typeface="Times New Roman" panose="02020603050405020304" pitchFamily="18" charset="0"/>
                <a:cs typeface="Times New Roman" panose="02020603050405020304" pitchFamily="18" charset="0"/>
              </a:rPr>
              <a:t> for frontend</a:t>
            </a:r>
          </a:p>
          <a:p>
            <a:r>
              <a:rPr lang="en-IN" sz="2200" dirty="0">
                <a:latin typeface="Times New Roman" panose="02020603050405020304" pitchFamily="18" charset="0"/>
                <a:cs typeface="Times New Roman" panose="02020603050405020304" pitchFamily="18" charset="0"/>
              </a:rPr>
              <a:t>GitHub for source control</a:t>
            </a: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5058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C3591-BF25-90CE-F673-D2D954163728}"/>
              </a:ext>
            </a:extLst>
          </p:cNvPr>
          <p:cNvSpPr>
            <a:spLocks noGrp="1"/>
          </p:cNvSpPr>
          <p:nvPr>
            <p:ph type="title"/>
          </p:nvPr>
        </p:nvSpPr>
        <p:spPr>
          <a:xfrm>
            <a:off x="196645" y="196645"/>
            <a:ext cx="4050890" cy="727587"/>
          </a:xfrm>
        </p:spPr>
        <p:txBody>
          <a:bodyPr/>
          <a:lstStyle/>
          <a:p>
            <a:r>
              <a:rPr lang="en-IN" sz="3200" b="1" dirty="0">
                <a:latin typeface="Times New Roman" panose="02020603050405020304" pitchFamily="18" charset="0"/>
                <a:cs typeface="Times New Roman" panose="02020603050405020304" pitchFamily="18" charset="0"/>
              </a:rPr>
              <a:t>Implementation</a:t>
            </a:r>
            <a:br>
              <a:rPr lang="en-IN" sz="3200" b="1"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BF4882F-11E6-6022-858D-9C3AD205071A}"/>
              </a:ext>
            </a:extLst>
          </p:cNvPr>
          <p:cNvSpPr>
            <a:spLocks noGrp="1"/>
          </p:cNvSpPr>
          <p:nvPr>
            <p:ph type="subTitle"/>
          </p:nvPr>
        </p:nvSpPr>
        <p:spPr/>
        <p:txBody>
          <a:bodyPr/>
          <a:lstStyle/>
          <a:p>
            <a:pPr>
              <a:lnSpc>
                <a:spcPct val="150000"/>
              </a:lnSpc>
            </a:pPr>
            <a:r>
              <a:rPr lang="en-US" sz="2200" dirty="0">
                <a:latin typeface="Times New Roman" panose="02020603050405020304" pitchFamily="18" charset="0"/>
                <a:cs typeface="Times New Roman" panose="02020603050405020304" pitchFamily="18" charset="0"/>
              </a:rPr>
              <a:t>Single Chrome instance shared across requests</a:t>
            </a:r>
          </a:p>
          <a:p>
            <a:pPr>
              <a:lnSpc>
                <a:spcPct val="150000"/>
              </a:lnSpc>
            </a:pPr>
            <a:r>
              <a:rPr lang="en-US" sz="2200" dirty="0">
                <a:latin typeface="Times New Roman" panose="02020603050405020304" pitchFamily="18" charset="0"/>
                <a:cs typeface="Times New Roman" panose="02020603050405020304" pitchFamily="18" charset="0"/>
              </a:rPr>
              <a:t>Block images and fonts before they load</a:t>
            </a:r>
          </a:p>
          <a:p>
            <a:pPr>
              <a:lnSpc>
                <a:spcPct val="150000"/>
              </a:lnSpc>
            </a:pPr>
            <a:r>
              <a:rPr lang="en-US" sz="2200" dirty="0">
                <a:latin typeface="Times New Roman" panose="02020603050405020304" pitchFamily="18" charset="0"/>
                <a:cs typeface="Times New Roman" panose="02020603050405020304" pitchFamily="18" charset="0"/>
              </a:rPr>
              <a:t>Use </a:t>
            </a:r>
            <a:r>
              <a:rPr lang="en-US" sz="2200" dirty="0" err="1">
                <a:latin typeface="Times New Roman" panose="02020603050405020304" pitchFamily="18" charset="0"/>
                <a:cs typeface="Times New Roman" panose="02020603050405020304" pitchFamily="18" charset="0"/>
              </a:rPr>
              <a:t>domcontentloaded</a:t>
            </a:r>
            <a:r>
              <a:rPr lang="en-US" sz="2200" dirty="0">
                <a:latin typeface="Times New Roman" panose="02020603050405020304" pitchFamily="18" charset="0"/>
                <a:cs typeface="Times New Roman" panose="02020603050405020304" pitchFamily="18" charset="0"/>
              </a:rPr>
              <a:t> instead of waiting for all networks</a:t>
            </a:r>
          </a:p>
          <a:p>
            <a:pPr>
              <a:lnSpc>
                <a:spcPct val="150000"/>
              </a:lnSpc>
            </a:pPr>
            <a:r>
              <a:rPr lang="en-US" sz="2200" dirty="0">
                <a:latin typeface="Times New Roman" panose="02020603050405020304" pitchFamily="18" charset="0"/>
                <a:cs typeface="Times New Roman" panose="02020603050405020304" pitchFamily="18" charset="0"/>
              </a:rPr>
              <a:t>Cap DOM elements at 400 per page</a:t>
            </a:r>
          </a:p>
          <a:p>
            <a:pPr>
              <a:lnSpc>
                <a:spcPct val="150000"/>
              </a:lnSpc>
            </a:pPr>
            <a:r>
              <a:rPr lang="en-US" sz="2200" dirty="0">
                <a:latin typeface="Times New Roman" panose="02020603050405020304" pitchFamily="18" charset="0"/>
                <a:cs typeface="Times New Roman" panose="02020603050405020304" pitchFamily="18" charset="0"/>
              </a:rPr>
              <a:t>Use --single-process flag for Chrome</a:t>
            </a:r>
          </a:p>
          <a:p>
            <a:pPr>
              <a:lnSpc>
                <a:spcPct val="150000"/>
              </a:lnSpc>
            </a:pPr>
            <a:r>
              <a:rPr lang="en-US" sz="2200" dirty="0">
                <a:latin typeface="Times New Roman" panose="02020603050405020304" pitchFamily="18" charset="0"/>
                <a:cs typeface="Times New Roman" panose="02020603050405020304" pitchFamily="18" charset="0"/>
              </a:rPr>
              <a:t>Result: 150MB memory usage drops to 80MB per instance</a:t>
            </a:r>
          </a:p>
          <a:p>
            <a:pPr>
              <a:lnSpc>
                <a:spcPct val="150000"/>
              </a:lnSpc>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3135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50EB1-B8D2-4902-CC38-19E1FE50E746}"/>
              </a:ext>
            </a:extLst>
          </p:cNvPr>
          <p:cNvSpPr>
            <a:spLocks noGrp="1"/>
          </p:cNvSpPr>
          <p:nvPr>
            <p:ph type="title"/>
          </p:nvPr>
        </p:nvSpPr>
        <p:spPr>
          <a:xfrm>
            <a:off x="68826" y="206478"/>
            <a:ext cx="5486040" cy="914040"/>
          </a:xfrm>
        </p:spPr>
        <p:txBody>
          <a:bodyPr/>
          <a:lstStyle/>
          <a:p>
            <a:r>
              <a:rPr lang="en-IN" sz="3200" b="1" dirty="0">
                <a:latin typeface="Times New Roman" panose="02020603050405020304" pitchFamily="18" charset="0"/>
                <a:cs typeface="Times New Roman" panose="02020603050405020304" pitchFamily="18" charset="0"/>
              </a:rPr>
              <a:t> Results &amp; Findings</a:t>
            </a:r>
            <a:br>
              <a:rPr lang="en-IN" sz="3200" b="1"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7A3D00A-2BA8-9ABD-6C3D-997F77600855}"/>
              </a:ext>
            </a:extLst>
          </p:cNvPr>
          <p:cNvSpPr>
            <a:spLocks noGrp="1"/>
          </p:cNvSpPr>
          <p:nvPr>
            <p:ph type="subTitle"/>
          </p:nvPr>
        </p:nvSpPr>
        <p:spPr/>
        <p:txBody>
          <a:bodyPr/>
          <a:lstStyle/>
          <a:p>
            <a:pPr>
              <a:lnSpc>
                <a:spcPct val="150000"/>
              </a:lnSpc>
            </a:pPr>
            <a:r>
              <a:rPr lang="en-IN" sz="2200" dirty="0">
                <a:latin typeface="Times New Roman" panose="02020603050405020304" pitchFamily="18" charset="0"/>
                <a:cs typeface="Times New Roman" panose="02020603050405020304" pitchFamily="18" charset="0"/>
              </a:rPr>
              <a:t>Average response time: less than 10 seconds</a:t>
            </a:r>
          </a:p>
          <a:p>
            <a:pPr>
              <a:lnSpc>
                <a:spcPct val="150000"/>
              </a:lnSpc>
            </a:pPr>
            <a:r>
              <a:rPr lang="en-IN" sz="2200" dirty="0">
                <a:latin typeface="Times New Roman" panose="02020603050405020304" pitchFamily="18" charset="0"/>
                <a:cs typeface="Times New Roman" panose="02020603050405020304" pitchFamily="18" charset="0"/>
              </a:rPr>
              <a:t>8 design dimensions extracted per URL</a:t>
            </a:r>
          </a:p>
          <a:p>
            <a:pPr>
              <a:lnSpc>
                <a:spcPct val="150000"/>
              </a:lnSpc>
            </a:pPr>
            <a:r>
              <a:rPr lang="en-IN" sz="2200" dirty="0">
                <a:latin typeface="Times New Roman" panose="02020603050405020304" pitchFamily="18" charset="0"/>
                <a:cs typeface="Times New Roman" panose="02020603050405020304" pitchFamily="18" charset="0"/>
              </a:rPr>
              <a:t>Framework detection: 100% accurate for Bootstrap and Tailwind</a:t>
            </a:r>
          </a:p>
          <a:p>
            <a:pPr>
              <a:lnSpc>
                <a:spcPct val="150000"/>
              </a:lnSpc>
            </a:pPr>
            <a:r>
              <a:rPr lang="en-IN" sz="2200" dirty="0">
                <a:latin typeface="Times New Roman" panose="02020603050405020304" pitchFamily="18" charset="0"/>
                <a:cs typeface="Times New Roman" panose="02020603050405020304" pitchFamily="18" charset="0"/>
              </a:rPr>
              <a:t>WCAG contrast accuracy: 94% compared to manual audit</a:t>
            </a:r>
          </a:p>
          <a:p>
            <a:pPr>
              <a:lnSpc>
                <a:spcPct val="150000"/>
              </a:lnSpc>
            </a:pPr>
            <a:r>
              <a:rPr lang="en-IN" sz="2200" dirty="0">
                <a:latin typeface="Times New Roman" panose="02020603050405020304" pitchFamily="18" charset="0"/>
                <a:cs typeface="Times New Roman" panose="02020603050405020304" pitchFamily="18" charset="0"/>
              </a:rPr>
              <a:t>Static sites: 3-5 seconds</a:t>
            </a:r>
          </a:p>
          <a:p>
            <a:pPr>
              <a:lnSpc>
                <a:spcPct val="150000"/>
              </a:lnSpc>
            </a:pPr>
            <a:r>
              <a:rPr lang="en-IN" sz="2200" dirty="0">
                <a:latin typeface="Times New Roman" panose="02020603050405020304" pitchFamily="18" charset="0"/>
                <a:cs typeface="Times New Roman" panose="02020603050405020304" pitchFamily="18" charset="0"/>
              </a:rPr>
              <a:t>Heavy e-commerce: 18-22 seconds</a:t>
            </a:r>
          </a:p>
          <a:p>
            <a:pPr>
              <a:lnSpc>
                <a:spcPct val="150000"/>
              </a:lnSpc>
            </a:pPr>
            <a:r>
              <a:rPr lang="en-IN" sz="2200" dirty="0">
                <a:latin typeface="Times New Roman" panose="02020603050405020304" pitchFamily="18" charset="0"/>
                <a:cs typeface="Times New Roman" panose="02020603050405020304" pitchFamily="18" charset="0"/>
              </a:rPr>
              <a:t>Runs smoothly within 512MB memory </a:t>
            </a:r>
            <a:r>
              <a:rPr lang="en-IN" sz="2200" dirty="0" err="1">
                <a:latin typeface="Times New Roman" panose="02020603050405020304" pitchFamily="18" charset="0"/>
                <a:cs typeface="Times New Roman" panose="02020603050405020304" pitchFamily="18" charset="0"/>
              </a:rPr>
              <a:t>limt</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5069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D15A2-1EAD-2FE7-84A8-2167E4713542}"/>
              </a:ext>
            </a:extLst>
          </p:cNvPr>
          <p:cNvSpPr>
            <a:spLocks noGrp="1"/>
          </p:cNvSpPr>
          <p:nvPr>
            <p:ph type="title"/>
          </p:nvPr>
        </p:nvSpPr>
        <p:spPr>
          <a:xfrm>
            <a:off x="98323" y="186813"/>
            <a:ext cx="5486040" cy="914040"/>
          </a:xfrm>
        </p:spPr>
        <p:txBody>
          <a:bodyPr/>
          <a:lstStyle/>
          <a:p>
            <a:r>
              <a:rPr lang="en-IN" sz="3200" b="1" dirty="0">
                <a:latin typeface="Times New Roman" panose="02020603050405020304" pitchFamily="18" charset="0"/>
                <a:cs typeface="Times New Roman" panose="02020603050405020304" pitchFamily="18" charset="0"/>
              </a:rPr>
              <a:t>Conclusion &amp; Future Scope</a:t>
            </a:r>
            <a:br>
              <a:rPr lang="en-IN" sz="3200" b="1"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1405283-AA4C-40E8-AF02-1F72CE811046}"/>
              </a:ext>
            </a:extLst>
          </p:cNvPr>
          <p:cNvSpPr>
            <a:spLocks noGrp="1"/>
          </p:cNvSpPr>
          <p:nvPr>
            <p:ph type="subTitle"/>
          </p:nvPr>
        </p:nvSpPr>
        <p:spPr/>
        <p:txBody>
          <a:bodyPr/>
          <a:lstStyle/>
          <a:p>
            <a:pPr marL="0" indent="0">
              <a:buNone/>
            </a:pPr>
            <a:r>
              <a:rPr lang="en-US" sz="2200" b="1" dirty="0">
                <a:latin typeface="Times New Roman" panose="02020603050405020304" pitchFamily="18" charset="0"/>
                <a:cs typeface="Times New Roman" panose="02020603050405020304" pitchFamily="18" charset="0"/>
              </a:rPr>
              <a:t>Achievements:</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Fully automated extraction of 8 design dimensions</a:t>
            </a:r>
          </a:p>
          <a:p>
            <a:r>
              <a:rPr lang="en-US" sz="2200" dirty="0">
                <a:latin typeface="Times New Roman" panose="02020603050405020304" pitchFamily="18" charset="0"/>
                <a:cs typeface="Times New Roman" panose="02020603050405020304" pitchFamily="18" charset="0"/>
              </a:rPr>
              <a:t>Works on any live website</a:t>
            </a:r>
          </a:p>
          <a:p>
            <a:r>
              <a:rPr lang="en-US" sz="2200" dirty="0">
                <a:latin typeface="Times New Roman" panose="02020603050405020304" pitchFamily="18" charset="0"/>
                <a:cs typeface="Times New Roman" panose="02020603050405020304" pitchFamily="18" charset="0"/>
              </a:rPr>
              <a:t>No external ML or paid APIs</a:t>
            </a:r>
          </a:p>
          <a:p>
            <a:r>
              <a:rPr lang="en-US" sz="2200" dirty="0">
                <a:latin typeface="Times New Roman" panose="02020603050405020304" pitchFamily="18" charset="0"/>
                <a:cs typeface="Times New Roman" panose="02020603050405020304" pitchFamily="18" charset="0"/>
              </a:rPr>
              <a:t>Deployed and accessible publicly</a:t>
            </a:r>
          </a:p>
          <a:p>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Future Scope:</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Dark mode detection</a:t>
            </a:r>
          </a:p>
          <a:p>
            <a:r>
              <a:rPr lang="en-US" sz="2200" dirty="0">
                <a:latin typeface="Times New Roman" panose="02020603050405020304" pitchFamily="18" charset="0"/>
                <a:cs typeface="Times New Roman" panose="02020603050405020304" pitchFamily="18" charset="0"/>
              </a:rPr>
              <a:t>Batch analysis for thousands of URLs</a:t>
            </a:r>
          </a:p>
          <a:p>
            <a:r>
              <a:rPr lang="en-US" sz="2200" dirty="0">
                <a:latin typeface="Times New Roman" panose="02020603050405020304" pitchFamily="18" charset="0"/>
                <a:cs typeface="Times New Roman" panose="02020603050405020304" pitchFamily="18" charset="0"/>
              </a:rPr>
              <a:t>ML-based design quality scoring</a:t>
            </a:r>
          </a:p>
          <a:p>
            <a:r>
              <a:rPr lang="en-US" sz="2200" dirty="0">
                <a:latin typeface="Times New Roman" panose="02020603050405020304" pitchFamily="18" charset="0"/>
                <a:cs typeface="Times New Roman" panose="02020603050405020304" pitchFamily="18" charset="0"/>
              </a:rPr>
              <a:t>Design token export for Figma</a:t>
            </a: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9419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35399</TotalTime>
  <Words>774</Words>
  <Application>Microsoft Office PowerPoint</Application>
  <PresentationFormat>On-screen Show (4:3)</PresentationFormat>
  <Paragraphs>89</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Problem Statement </vt:lpstr>
      <vt:lpstr>System Overview </vt:lpstr>
      <vt:lpstr>Methodology – Color Palette</vt:lpstr>
      <vt:lpstr>Methodology – Framework &amp; Typography</vt:lpstr>
      <vt:lpstr>Flow Diagram</vt:lpstr>
      <vt:lpstr>Tech Stack </vt:lpstr>
      <vt:lpstr>Implementation </vt:lpstr>
      <vt:lpstr> Results &amp; Findings </vt:lpstr>
      <vt:lpstr>Conclusion &amp; Future Scope </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Gurkunwar Singh</cp:lastModifiedBy>
  <cp:revision>2301</cp:revision>
  <dcterms:created xsi:type="dcterms:W3CDTF">2010-04-09T07:36:15Z</dcterms:created>
  <dcterms:modified xsi:type="dcterms:W3CDTF">2026-05-01T05:19:14Z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